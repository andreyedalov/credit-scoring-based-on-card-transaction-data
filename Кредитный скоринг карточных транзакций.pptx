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verage"/>
      <p:regular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swald-regular.fntdata"/><Relationship Id="rId16" Type="http://schemas.openxmlformats.org/officeDocument/2006/relationships/font" Target="fonts/Averag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16022224e_0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16022224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16022224e_0_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16022224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16022224e_0_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16022224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16022224e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16022224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16022224e_0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16022224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16022224e_0_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16022224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16022224e_0_6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16022224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16022224e_0_7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16022224e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16022224e_0_9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16022224e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Кредитный скоринг на данных карточных транзакций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4883400" y="4350900"/>
            <a:ext cx="426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Едалов Андрей, Иванов Алексей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Что такое кредитный скоринг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/>
              <a:t>Кредитный скоринг</a:t>
            </a:r>
            <a:r>
              <a:rPr lang="en"/>
              <a:t> — это оценка вероятности дефолта клиента на основе его данных и поведения с использованием статистических и ML-моделей</a:t>
            </a:r>
            <a:endParaRPr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b="1" lang="en"/>
              <a:t>Результат скоринга</a:t>
            </a:r>
            <a:r>
              <a:rPr lang="en"/>
              <a:t> — число (score или PD), по которому банк: одобряет или отклоняет заявку / определяет лимит и ставку</a:t>
            </a:r>
            <a:endParaRPr/>
          </a:p>
          <a:p>
            <a:pPr indent="0" lvl="0" marL="0" rtl="0" algn="l">
              <a:spcBef>
                <a:spcPts val="13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Целевая переменная (Target)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5283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en"/>
              <a:t>TGT_VAR</a:t>
            </a:r>
            <a:endParaRPr/>
          </a:p>
          <a:p>
            <a:pPr indent="-298450" lvl="0" marL="457200" rtl="0" algn="l"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1 — дефолт (клиент не выполнил обязательства)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0 — не дефолт</a:t>
            </a:r>
            <a:endParaRPr/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lang="en"/>
              <a:t>Особенность данных</a:t>
            </a:r>
            <a:endParaRPr/>
          </a:p>
          <a:p>
            <a:pPr indent="-298450" lvl="0" marL="457200" rtl="0" algn="l"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/>
              <a:t>Целевая переменная наблюдается только для одобренных заявок</a:t>
            </a:r>
            <a:br>
              <a:rPr lang="en"/>
            </a:br>
            <a:r>
              <a:rPr lang="en"/>
              <a:t>Для отклонённых заявок реальный исход неизвестен</a:t>
            </a:r>
            <a:endParaRPr/>
          </a:p>
          <a:p>
            <a:pPr indent="0" lvl="0" marL="0" rtl="0" algn="l">
              <a:spcBef>
                <a:spcPts val="13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6988" y="1491300"/>
            <a:ext cx="30861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3650" y="3176950"/>
            <a:ext cx="3372775" cy="83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 Bias в данных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311700" y="1408875"/>
            <a:ext cx="6884700" cy="29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Selection bias — систематическое смещение выборки, возникающее из-за того, что дефолт наблюдается только для части клиентов.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В данном проекте: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SzPts val="8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дефолт полноценно наблюдается только для approved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rejected клиенты имеют неизвестное поведение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Следствие: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модель, обученная только на approved, не репрезентативна для всей популяции заявителей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Связь Target и исхода заявки</a:t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400250" y="1423650"/>
            <a:ext cx="5615400" cy="3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Bad rate по исходу заявки: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SzPts val="11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Rejected (APPL_OUTCM_CD = 0)  ≈ 14.3%</a:t>
            </a:r>
            <a:b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Approved (APPL_OUTCM_CD = 1)  ≈ 16.1%</a:t>
            </a:r>
            <a:b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Ключевое наблюдение: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Одобренные заявки в среднем дефолтят чаще, чем отклонённые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t/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6800" y="2076150"/>
            <a:ext cx="1947225" cy="129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Анализ логичности признаков</a:t>
            </a:r>
            <a:endParaRPr/>
          </a:p>
        </p:txBody>
      </p:sp>
      <p:sp>
        <p:nvSpPr>
          <p:cNvPr id="93" name="Google Shape;93;p18"/>
          <p:cNvSpPr txBox="1"/>
          <p:nvPr/>
        </p:nvSpPr>
        <p:spPr>
          <a:xfrm>
            <a:off x="311700" y="1224375"/>
            <a:ext cx="6951000" cy="42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Проведен</a:t>
            </a: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анализ распределений ключевых числовых признаков и их связи с дефолтом: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SzPts val="11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ANNUAL_INCOME_AMT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EMP_YR_CNT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ACC_31_60DLQ_LST_3M_CNT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APPL_SCR_NO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APPL_PA_HHD_INC_AMT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Результаты: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SzPts val="11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Доход - логичная, но немонотонная связь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Стаж - слабая связь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С</a:t>
            </a: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ерьезные</a:t>
            </a: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просрочки - рост риска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Скорбалл — неожиданно слабый предиктор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t/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WOE и Information Value</a:t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97650" y="1187500"/>
            <a:ext cx="5615400" cy="3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Для признаков рассчитаны: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SzPts val="11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WOE (Weight of Evidence) — логарифм отношения good/bad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IV (Information Value) — мера предсказательной силы признака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Результат IV-отбора: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SzPts val="11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о</a:t>
            </a: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ставлены признаки с ненулевой информационной ценностью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исключены шумовые и нелогичные признаки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t/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7450" y="2331850"/>
            <a:ext cx="3530725" cy="132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Базовая модель и Reject Inference</a:t>
            </a:r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97650" y="1187500"/>
            <a:ext cx="5615400" cy="3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Базовая модель: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SzPts val="11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логистическая регрессия с WOE-признаками</a:t>
            </a:r>
            <a:b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Результаты: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SzPts val="11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AUC (approved-only) ≈ 0.53</a:t>
            </a:r>
            <a:b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AUC (reject inference, hard labels) ≈ 0.54</a:t>
            </a:r>
            <a:b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Reject inference улучшает качество, но эффект умеренный.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t/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8425" y="1047250"/>
            <a:ext cx="2448750" cy="219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6771" y="4091875"/>
            <a:ext cx="3319000" cy="3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Альтернативные модели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8075" y="2494475"/>
            <a:ext cx="3715500" cy="3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/>
        </p:nvSpPr>
        <p:spPr>
          <a:xfrm>
            <a:off x="280475" y="1173450"/>
            <a:ext cx="61485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В качестве альтернативного подхода была обучена модель </a:t>
            </a:r>
            <a:r>
              <a:rPr b="1"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Gradient Boosting</a:t>
            </a: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на исходных числовых признаках без WOE-преобразования.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Качество модели по метрике AUC составило 0.587, что выше, чем у логистической регрессии как без учёта reject inference (AUC ≈ 0.53),так и с применением reject inference (AUC ≈ 0.54).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5780" y="4594100"/>
            <a:ext cx="3010820" cy="32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311700" y="2883775"/>
            <a:ext cx="61485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В качестве второго альтернативного подхода была обучена модель </a:t>
            </a:r>
            <a:r>
              <a:rPr b="1"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Decision Tree</a:t>
            </a: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с ограниченной глубиной и балансировкой классов.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Полученное качество по метрике AUC составило 0.604, что является наилучшим результатом среди всех рассмотренных моделей и превышает качество как логистической регрессии, так и Gradient Boosting.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Выводы</a:t>
            </a: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280475" y="1173450"/>
            <a:ext cx="84363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В данных присутствует сильный selection bias: большинство заявок отклонено, дефолт наблюдается не для всей популяции.</a:t>
            </a:r>
            <a:b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Базовая WOE-логистическая регрессия обеспечивает интерпретируемый, но слабый baseline (AUC ≈ 0.53).</a:t>
            </a:r>
            <a:b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Применение reject inference частично снижает эффект selection bias и улучшает качество модели.</a:t>
            </a:r>
            <a:b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Нелинейные модели (Gradient Boosting и Decision Tree) демонстрируют более высокое качество (AUC до ≈ 0.60).</a:t>
            </a:r>
            <a:b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Ключевым фактором кредитного риска во всех моделях является доход клиента.</a:t>
            </a:r>
            <a:b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</a:b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Font typeface="Average"/>
              <a:buChar char="●"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Выбор модели на практике представляет собой компромисс между качеством прогноза и интерпретируемостью.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